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69" r:id="rId3"/>
    <p:sldId id="276" r:id="rId4"/>
    <p:sldId id="278" r:id="rId5"/>
    <p:sldId id="286" r:id="rId6"/>
    <p:sldId id="285" r:id="rId7"/>
    <p:sldId id="290" r:id="rId8"/>
    <p:sldId id="279" r:id="rId9"/>
    <p:sldId id="289" r:id="rId10"/>
    <p:sldId id="280" r:id="rId11"/>
    <p:sldId id="287" r:id="rId12"/>
    <p:sldId id="291" r:id="rId13"/>
    <p:sldId id="28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C90B6-7761-455C-B5E2-DCE3583C5C47}" v="7" dt="2026-03-07T07:06:10.122"/>
    <p1510:client id="{E3A5EAEC-9260-4E07-9E0C-45F5D0A391E9}" v="8" dt="2026-03-07T04:16:45.354"/>
  </p1510:revLst>
</p1510:revInfo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21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pama M" userId="e0b197fd078148ca" providerId="LiveId" clId="{8D1589A5-AF85-4230-87E8-7D0E98F64695}"/>
    <pc:docChg chg="undo custSel delSld modSld">
      <pc:chgData name="Anupama M" userId="e0b197fd078148ca" providerId="LiveId" clId="{8D1589A5-AF85-4230-87E8-7D0E98F64695}" dt="2026-03-07T07:09:27.601" v="89" actId="47"/>
      <pc:docMkLst>
        <pc:docMk/>
      </pc:docMkLst>
      <pc:sldChg chg="addSp modSp mod">
        <pc:chgData name="Anupama M" userId="e0b197fd078148ca" providerId="LiveId" clId="{8D1589A5-AF85-4230-87E8-7D0E98F64695}" dt="2026-03-07T07:05:57.164" v="70"/>
        <pc:sldMkLst>
          <pc:docMk/>
          <pc:sldMk cId="272306093" sldId="269"/>
        </pc:sldMkLst>
        <pc:spChg chg="mod">
          <ac:chgData name="Anupama M" userId="e0b197fd078148ca" providerId="LiveId" clId="{8D1589A5-AF85-4230-87E8-7D0E98F64695}" dt="2026-03-07T07:05:38.697" v="69" actId="20577"/>
          <ac:spMkLst>
            <pc:docMk/>
            <pc:sldMk cId="272306093" sldId="269"/>
            <ac:spMk id="4" creationId="{234B2C90-16E2-4FB6-90D6-CEB309DAAAAB}"/>
          </ac:spMkLst>
        </pc:spChg>
        <pc:picChg chg="add mod">
          <ac:chgData name="Anupama M" userId="e0b197fd078148ca" providerId="LiveId" clId="{8D1589A5-AF85-4230-87E8-7D0E98F64695}" dt="2026-03-07T07:05:57.164" v="70"/>
          <ac:picMkLst>
            <pc:docMk/>
            <pc:sldMk cId="272306093" sldId="269"/>
            <ac:picMk id="3" creationId="{62B60FB5-827F-1CB4-7B92-C690C488062C}"/>
          </ac:picMkLst>
        </pc:picChg>
      </pc:sldChg>
      <pc:sldChg chg="addSp modSp mod">
        <pc:chgData name="Anupama M" userId="e0b197fd078148ca" providerId="LiveId" clId="{8D1589A5-AF85-4230-87E8-7D0E98F64695}" dt="2026-03-07T06:48:53.940" v="12" actId="1076"/>
        <pc:sldMkLst>
          <pc:docMk/>
          <pc:sldMk cId="2245961451" sldId="274"/>
        </pc:sldMkLst>
        <pc:spChg chg="mod">
          <ac:chgData name="Anupama M" userId="e0b197fd078148ca" providerId="LiveId" clId="{8D1589A5-AF85-4230-87E8-7D0E98F64695}" dt="2026-03-07T06:48:14.012" v="8" actId="1076"/>
          <ac:spMkLst>
            <pc:docMk/>
            <pc:sldMk cId="2245961451" sldId="274"/>
            <ac:spMk id="7" creationId="{DFD61F20-285D-4A37-B121-F3626355A777}"/>
          </ac:spMkLst>
        </pc:spChg>
        <pc:spChg chg="mod">
          <ac:chgData name="Anupama M" userId="e0b197fd078148ca" providerId="LiveId" clId="{8D1589A5-AF85-4230-87E8-7D0E98F64695}" dt="2026-03-07T06:48:25.905" v="11" actId="1076"/>
          <ac:spMkLst>
            <pc:docMk/>
            <pc:sldMk cId="2245961451" sldId="274"/>
            <ac:spMk id="9" creationId="{A2068AC4-CA93-4866-A814-C4279BA6E534}"/>
          </ac:spMkLst>
        </pc:spChg>
        <pc:spChg chg="mod">
          <ac:chgData name="Anupama M" userId="e0b197fd078148ca" providerId="LiveId" clId="{8D1589A5-AF85-4230-87E8-7D0E98F64695}" dt="2026-03-07T06:48:00.950" v="6" actId="1076"/>
          <ac:spMkLst>
            <pc:docMk/>
            <pc:sldMk cId="2245961451" sldId="274"/>
            <ac:spMk id="10" creationId="{8C7B3C8B-944F-46ED-8EF8-26550FD6AB9F}"/>
          </ac:spMkLst>
        </pc:spChg>
        <pc:spChg chg="mod">
          <ac:chgData name="Anupama M" userId="e0b197fd078148ca" providerId="LiveId" clId="{8D1589A5-AF85-4230-87E8-7D0E98F64695}" dt="2026-03-07T06:48:53.940" v="12" actId="1076"/>
          <ac:spMkLst>
            <pc:docMk/>
            <pc:sldMk cId="2245961451" sldId="274"/>
            <ac:spMk id="15" creationId="{A0E859CA-824F-4384-84D5-C4CD90807A6D}"/>
          </ac:spMkLst>
        </pc:spChg>
        <pc:picChg chg="add mod">
          <ac:chgData name="Anupama M" userId="e0b197fd078148ca" providerId="LiveId" clId="{8D1589A5-AF85-4230-87E8-7D0E98F64695}" dt="2026-03-07T06:47:49.524" v="5" actId="14100"/>
          <ac:picMkLst>
            <pc:docMk/>
            <pc:sldMk cId="2245961451" sldId="274"/>
            <ac:picMk id="2" creationId="{6E18CB6B-E683-470C-777B-080BD8751378}"/>
          </ac:picMkLst>
        </pc:picChg>
        <pc:picChg chg="mod">
          <ac:chgData name="Anupama M" userId="e0b197fd078148ca" providerId="LiveId" clId="{8D1589A5-AF85-4230-87E8-7D0E98F64695}" dt="2026-03-07T06:48:06.698" v="7" actId="1076"/>
          <ac:picMkLst>
            <pc:docMk/>
            <pc:sldMk cId="2245961451" sldId="274"/>
            <ac:picMk id="17" creationId="{04ABDC97-232A-441B-81D8-EC6015E5F0F0}"/>
          </ac:picMkLst>
        </pc:picChg>
      </pc:sldChg>
      <pc:sldChg chg="addSp modSp mod">
        <pc:chgData name="Anupama M" userId="e0b197fd078148ca" providerId="LiveId" clId="{8D1589A5-AF85-4230-87E8-7D0E98F64695}" dt="2026-03-07T07:08:25.758" v="75" actId="20577"/>
        <pc:sldMkLst>
          <pc:docMk/>
          <pc:sldMk cId="2810794540" sldId="276"/>
        </pc:sldMkLst>
        <pc:spChg chg="mod">
          <ac:chgData name="Anupama M" userId="e0b197fd078148ca" providerId="LiveId" clId="{8D1589A5-AF85-4230-87E8-7D0E98F64695}" dt="2026-03-07T07:08:25.758" v="75" actId="20577"/>
          <ac:spMkLst>
            <pc:docMk/>
            <pc:sldMk cId="2810794540" sldId="276"/>
            <ac:spMk id="4" creationId="{4D26B048-E727-470A-9F16-393057F5FF78}"/>
          </ac:spMkLst>
        </pc:spChg>
        <pc:picChg chg="add mod">
          <ac:chgData name="Anupama M" userId="e0b197fd078148ca" providerId="LiveId" clId="{8D1589A5-AF85-4230-87E8-7D0E98F64695}" dt="2026-03-07T07:06:01.107" v="71"/>
          <ac:picMkLst>
            <pc:docMk/>
            <pc:sldMk cId="2810794540" sldId="276"/>
            <ac:picMk id="5" creationId="{9466C57B-B17B-8FA8-F8A7-82623618299A}"/>
          </ac:picMkLst>
        </pc:picChg>
      </pc:sldChg>
      <pc:sldChg chg="addSp modSp">
        <pc:chgData name="Anupama M" userId="e0b197fd078148ca" providerId="LiveId" clId="{8D1589A5-AF85-4230-87E8-7D0E98F64695}" dt="2026-03-07T07:06:04.003" v="72"/>
        <pc:sldMkLst>
          <pc:docMk/>
          <pc:sldMk cId="3052112289" sldId="278"/>
        </pc:sldMkLst>
        <pc:picChg chg="add mod">
          <ac:chgData name="Anupama M" userId="e0b197fd078148ca" providerId="LiveId" clId="{8D1589A5-AF85-4230-87E8-7D0E98F64695}" dt="2026-03-07T07:06:04.003" v="72"/>
          <ac:picMkLst>
            <pc:docMk/>
            <pc:sldMk cId="3052112289" sldId="278"/>
            <ac:picMk id="5" creationId="{5E8D5092-4F94-F819-96C1-AD619C1192F8}"/>
          </ac:picMkLst>
        </pc:picChg>
      </pc:sldChg>
      <pc:sldChg chg="addSp modSp">
        <pc:chgData name="Anupama M" userId="e0b197fd078148ca" providerId="LiveId" clId="{8D1589A5-AF85-4230-87E8-7D0E98F64695}" dt="2026-03-07T07:06:06.474" v="73"/>
        <pc:sldMkLst>
          <pc:docMk/>
          <pc:sldMk cId="2588920204" sldId="279"/>
        </pc:sldMkLst>
        <pc:picChg chg="add mod">
          <ac:chgData name="Anupama M" userId="e0b197fd078148ca" providerId="LiveId" clId="{8D1589A5-AF85-4230-87E8-7D0E98F64695}" dt="2026-03-07T07:06:06.474" v="73"/>
          <ac:picMkLst>
            <pc:docMk/>
            <pc:sldMk cId="2588920204" sldId="279"/>
            <ac:picMk id="5" creationId="{FB781C35-685C-00CF-C68B-09C1540CC72B}"/>
          </ac:picMkLst>
        </pc:picChg>
      </pc:sldChg>
      <pc:sldChg chg="addSp modSp mod">
        <pc:chgData name="Anupama M" userId="e0b197fd078148ca" providerId="LiveId" clId="{8D1589A5-AF85-4230-87E8-7D0E98F64695}" dt="2026-03-07T07:08:53.842" v="86" actId="20577"/>
        <pc:sldMkLst>
          <pc:docMk/>
          <pc:sldMk cId="4070321220" sldId="280"/>
        </pc:sldMkLst>
        <pc:spChg chg="mod">
          <ac:chgData name="Anupama M" userId="e0b197fd078148ca" providerId="LiveId" clId="{8D1589A5-AF85-4230-87E8-7D0E98F64695}" dt="2026-03-07T07:08:53.842" v="86" actId="20577"/>
          <ac:spMkLst>
            <pc:docMk/>
            <pc:sldMk cId="4070321220" sldId="280"/>
            <ac:spMk id="3" creationId="{D319D1EE-AF95-4373-B568-F22C9407B941}"/>
          </ac:spMkLst>
        </pc:spChg>
        <pc:picChg chg="add mod">
          <ac:chgData name="Anupama M" userId="e0b197fd078148ca" providerId="LiveId" clId="{8D1589A5-AF85-4230-87E8-7D0E98F64695}" dt="2026-03-07T07:06:10.122" v="74"/>
          <ac:picMkLst>
            <pc:docMk/>
            <pc:sldMk cId="4070321220" sldId="280"/>
            <ac:picMk id="5" creationId="{0A2C0FE4-6999-937A-20B0-7353A50FBEA6}"/>
          </ac:picMkLst>
        </pc:picChg>
      </pc:sldChg>
      <pc:sldChg chg="del">
        <pc:chgData name="Anupama M" userId="e0b197fd078148ca" providerId="LiveId" clId="{8D1589A5-AF85-4230-87E8-7D0E98F64695}" dt="2026-03-07T07:09:17.547" v="87" actId="47"/>
        <pc:sldMkLst>
          <pc:docMk/>
          <pc:sldMk cId="3612068074" sldId="281"/>
        </pc:sldMkLst>
      </pc:sldChg>
      <pc:sldChg chg="del">
        <pc:chgData name="Anupama M" userId="e0b197fd078148ca" providerId="LiveId" clId="{8D1589A5-AF85-4230-87E8-7D0E98F64695}" dt="2026-03-07T07:09:24.677" v="88" actId="47"/>
        <pc:sldMkLst>
          <pc:docMk/>
          <pc:sldMk cId="155808525" sldId="282"/>
        </pc:sldMkLst>
      </pc:sldChg>
      <pc:sldChg chg="del">
        <pc:chgData name="Anupama M" userId="e0b197fd078148ca" providerId="LiveId" clId="{8D1589A5-AF85-4230-87E8-7D0E98F64695}" dt="2026-03-07T07:09:27.601" v="89" actId="47"/>
        <pc:sldMkLst>
          <pc:docMk/>
          <pc:sldMk cId="568784189" sldId="28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A2BA3-39F7-E493-F678-A559D52DA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B0953-2A85-9D56-DA43-E12BB2587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D7F70-9EBB-BC80-BB51-2866B623E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A82C-ED5E-4860-94E7-E2F70833236B}" type="datetimeFigureOut">
              <a:rPr lang="en-IN" smtClean="0"/>
              <a:t>Thu / 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783B7-85DD-A5BE-8B53-D63E70A27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89433-9214-1422-1875-07464CC1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628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B93BF-73A5-7F04-3347-3EE720E92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75B16-F03C-BBF7-4E0E-A3063B76A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13B88-F991-B9A7-805A-C16DAF5CE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33FFF-824C-4F5F-2732-028C7D483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A40251-B762-248B-0943-D6B52DD531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00607"/>
            <a:ext cx="2105247" cy="53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317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60222-4734-082F-E777-6A79DB536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30D30-9B55-37D1-996A-5A962C516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2E9B0-120B-1D1C-6CDD-ACBED663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190306" y="6443330"/>
            <a:ext cx="1391093" cy="278145"/>
          </a:xfrm>
        </p:spPr>
        <p:txBody>
          <a:bodyPr/>
          <a:lstStyle/>
          <a:p>
            <a:fld id="{74A2A82C-ED5E-4860-94E7-E2F70833236B}" type="datetimeFigureOut">
              <a:rPr lang="en-IN" smtClean="0"/>
              <a:t>Thu / 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199CF-E318-1CE6-ABF1-05FE45BC0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16FE2-5836-784D-3D4A-1200D4B6D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564A57-E718-BE7C-6A1F-EA441B8FDE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78144"/>
            <a:ext cx="2060760" cy="52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445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918E-F6A3-FE40-9671-F73DB398F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CDBB4-4696-7D57-470B-E692984F1F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133EA-A374-2B4C-C47A-963FED4B0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FC896-4F24-B0A0-0693-B5469F74E8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11572" y="6356350"/>
            <a:ext cx="1369828" cy="365125"/>
          </a:xfrm>
        </p:spPr>
        <p:txBody>
          <a:bodyPr/>
          <a:lstStyle/>
          <a:p>
            <a:fld id="{74A2A82C-ED5E-4860-94E7-E2F70833236B}" type="datetimeFigureOut">
              <a:rPr lang="en-IN" smtClean="0"/>
              <a:t>Thu / 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7183D-E330-73F5-E3F9-D5321CFDC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7511F-D7EC-9B4F-1217-E5E67A8B9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86A3E6-518C-E27C-C468-1F3E60F5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714" y="6307294"/>
            <a:ext cx="2020002" cy="51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0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97B96-C86A-B31E-DDED-520DDFDA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876FF-5950-5A02-C159-4AB37B070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444E7-E6F7-EAA1-7FF2-7D9564E26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1434E5-D177-06D7-F535-633AF0304C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6B288-A768-A48F-E632-BED661C438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8C3A4D-B939-C747-9248-E82FEA1C3F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0940" y="6356350"/>
            <a:ext cx="1380460" cy="365125"/>
          </a:xfrm>
        </p:spPr>
        <p:txBody>
          <a:bodyPr/>
          <a:lstStyle/>
          <a:p>
            <a:fld id="{74A2A82C-ED5E-4860-94E7-E2F70833236B}" type="datetimeFigureOut">
              <a:rPr lang="en-IN" smtClean="0"/>
              <a:t>Thu / 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5F1A8D-C1EB-CAD9-07CF-C988DE645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83CA6-69D0-76BB-E8B6-569B72724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41217E-33DB-8E20-63DC-EC9C39AFE7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08503"/>
            <a:ext cx="2100198" cy="53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83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3AA4-0FEA-2133-3D99-381F1C525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64850-647B-304D-34BD-0B4E2BB3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88018" y="6356350"/>
            <a:ext cx="1093381" cy="365125"/>
          </a:xfrm>
        </p:spPr>
        <p:txBody>
          <a:bodyPr/>
          <a:lstStyle/>
          <a:p>
            <a:fld id="{74A2A82C-ED5E-4860-94E7-E2F70833236B}" type="datetimeFigureOut">
              <a:rPr lang="en-IN" smtClean="0"/>
              <a:t>Thu / 12-03-2026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BCC28-39F8-4F49-3A20-DEB2DD2EC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68E70-A1BB-4D6D-1C8A-1B36DFA10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96E194-34AE-1F29-34BE-B3CFB611CB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238" y="6297871"/>
            <a:ext cx="2100198" cy="53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073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B440C8-E8B2-BB57-DE63-C3FA57801E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2716" y="6356350"/>
            <a:ext cx="1518684" cy="365125"/>
          </a:xfrm>
        </p:spPr>
        <p:txBody>
          <a:bodyPr/>
          <a:lstStyle/>
          <a:p>
            <a:fld id="{74A2A82C-ED5E-4860-94E7-E2F70833236B}" type="datetimeFigureOut">
              <a:rPr lang="en-IN" smtClean="0"/>
              <a:t>Thu / 12-03-2026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BDB31C-9505-C633-8CF0-F3AC956AC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203CF-7503-C50C-C34E-580322EF0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B99532-F85E-FAE7-EC94-17E0FB27A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85262"/>
            <a:ext cx="1975700" cy="50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163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14173-34DB-77FB-86D8-1520DA27F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50587-5262-3C8B-94C8-3E62DC7F2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4695E-CF45-82B0-58DC-B82180E32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5F61C-4745-931A-7D26-5600EADD9E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98920" y="6356350"/>
            <a:ext cx="1582479" cy="365125"/>
          </a:xfrm>
        </p:spPr>
        <p:txBody>
          <a:bodyPr/>
          <a:lstStyle/>
          <a:p>
            <a:fld id="{74A2A82C-ED5E-4860-94E7-E2F70833236B}" type="datetimeFigureOut">
              <a:rPr lang="en-IN" smtClean="0"/>
              <a:t>Thu / 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9D89E-D7F8-3498-A186-2D2652B49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AE3FD-3F82-5548-A817-8DF5DB39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7D98D9-AE90-7804-E63B-3FC38C7583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956" y="6351367"/>
            <a:ext cx="2001876" cy="5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7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074AB-C26D-FCB9-7D42-C11574D88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F9EB65-9F2C-9C69-2826-24B273F82A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109EA-0CB5-434B-0E98-F56F6327A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0AE3B-6A88-B7A0-7EC9-2C779CC6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96632" y="6356350"/>
            <a:ext cx="1284767" cy="365125"/>
          </a:xfrm>
        </p:spPr>
        <p:txBody>
          <a:bodyPr/>
          <a:lstStyle/>
          <a:p>
            <a:fld id="{74A2A82C-ED5E-4860-94E7-E2F70833236B}" type="datetimeFigureOut">
              <a:rPr lang="en-IN" smtClean="0"/>
              <a:t>Thu / 12-03-2026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01C90-01CB-6A6A-6935-0EE40648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9DF40-44E7-4A6B-82E1-F38508FDA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7D04B2-AAB7-59F6-F6A0-BA2708F18D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6343774"/>
            <a:ext cx="2009553" cy="50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82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FD25-ABCB-2093-0D49-D956DED12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DF5E6B-3490-AD23-918F-6CB78EF65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80331-449A-F6AD-8FA3-9D1355A1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A82C-ED5E-4860-94E7-E2F70833236B}" type="datetimeFigureOut">
              <a:rPr lang="en-IN" smtClean="0"/>
              <a:t>Thu / 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603CD-EABB-5DEF-11F2-04ECEDB51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C9CB5-C412-7145-98E6-DBDA400D7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530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C94E8E-0D54-0265-23A3-55E88CE375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575FB-1358-1241-ECE3-432FCFADA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20106-243F-D55D-BEBE-785B409DC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A82C-ED5E-4860-94E7-E2F70833236B}" type="datetimeFigureOut">
              <a:rPr lang="en-IN" smtClean="0"/>
              <a:t>Thu / 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5C8B7-219A-6787-9145-31E33677D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FADEB-CB71-D53F-4D24-6E95ADE77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79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8806BB-E550-CD31-E95C-E8256F7B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1846E-8D6D-D610-B632-07504F846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D740B-6421-E5BE-6859-91681C9367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2A82C-ED5E-4860-94E7-E2F70833236B}" type="datetimeFigureOut">
              <a:rPr lang="en-IN" smtClean="0"/>
              <a:t>Thu / 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313BE-2533-EBB4-2391-107A5025E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F580B-599D-7CDD-7D28-21E078A19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7C0A3-32B4-407A-BEB2-8D6B17E41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69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92440423_Swarm_Robotics_and_Multi-Agent_Systems_in_Agriculture#:~:text=Swarm%20robotics%20and%20multi%2Dagent%20systems%20represent%20a%20transformative%20approach,and%20resilience%20in%20farming%20operations." TargetMode="External"/><Relationship Id="rId13" Type="http://schemas.openxmlformats.org/officeDocument/2006/relationships/hyperlink" Target="https://www.frontiersin.org/journals/plant-science/articles/10.3389/fpls.2025.1587869/full?utm_source=chatgpt.com" TargetMode="External"/><Relationship Id="rId3" Type="http://schemas.openxmlformats.org/officeDocument/2006/relationships/hyperlink" Target="https://www.sciencedirect.com/science/article/pii/S1000936124000931" TargetMode="External"/><Relationship Id="rId7" Type="http://schemas.openxmlformats.org/officeDocument/2006/relationships/hyperlink" Target="https://onlinelibrary.wiley.com/doi/abs/10.1002/047134608X.W8352" TargetMode="External"/><Relationship Id="rId12" Type="http://schemas.openxmlformats.org/officeDocument/2006/relationships/hyperlink" Target="https://www.researchgate.net/publication/388320488_A_LITERATURE_REVIEW_ON_IOT_IN_SMART_AGRICULTURE" TargetMode="External"/><Relationship Id="rId2" Type="http://schemas.openxmlformats.org/officeDocument/2006/relationships/hyperlink" Target="https://en.wikipedia.org/wiki/Swarm_intelligenc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publication/373640610_MQTT_Protocol_for_the_IoT_-_Review_Paper" TargetMode="External"/><Relationship Id="rId11" Type="http://schemas.openxmlformats.org/officeDocument/2006/relationships/hyperlink" Target="https://www.sciencedirect.com/science/article/pii/S2772375525008603" TargetMode="External"/><Relationship Id="rId5" Type="http://schemas.openxmlformats.org/officeDocument/2006/relationships/hyperlink" Target="https://www.researchgate.net/publication/388173169_IoT-BASED_SMART_AGRICULTURE_MONITORING_SYSTEM" TargetMode="External"/><Relationship Id="rId10" Type="http://schemas.openxmlformats.org/officeDocument/2006/relationships/hyperlink" Target="https://www.mdpi.com/1424-8220/24/8/2647" TargetMode="External"/><Relationship Id="rId4" Type="http://schemas.openxmlformats.org/officeDocument/2006/relationships/hyperlink" Target="https://www.sciencedirect.com/science/article/pii/S2666154323002831" TargetMode="External"/><Relationship Id="rId9" Type="http://schemas.openxmlformats.org/officeDocument/2006/relationships/hyperlink" Target="https://www.sciencedirect.com/science/article/pii/S2772375524000923" TargetMode="External"/><Relationship Id="rId14" Type="http://schemas.openxmlformats.org/officeDocument/2006/relationships/hyperlink" Target="https://link.springer.com/article/10.1007/s44274-025-00305-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FD61F20-285D-4A37-B121-F3626355A777}"/>
              </a:ext>
            </a:extLst>
          </p:cNvPr>
          <p:cNvSpPr txBox="1"/>
          <p:nvPr/>
        </p:nvSpPr>
        <p:spPr>
          <a:xfrm>
            <a:off x="2135551" y="1920080"/>
            <a:ext cx="792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Roboto Condensed" panose="02000000000000000000"/>
                <a:cs typeface="Times New Roman" panose="02020603050405020304" pitchFamily="18" charset="0"/>
                <a:sym typeface="Roboto Condensed" panose="02000000000000000000"/>
              </a:rPr>
              <a:t>Project Phase-1: Screening 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ea typeface="Roboto Condensed" panose="02000000000000000000"/>
              <a:cs typeface="Times New Roman" panose="02020603050405020304" pitchFamily="18" charset="0"/>
              <a:sym typeface="Roboto Condensed" panose="0200000000000000000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068AC4-CA93-4866-A814-C4279BA6E534}"/>
              </a:ext>
            </a:extLst>
          </p:cNvPr>
          <p:cNvSpPr txBox="1"/>
          <p:nvPr/>
        </p:nvSpPr>
        <p:spPr>
          <a:xfrm>
            <a:off x="1632010" y="2692850"/>
            <a:ext cx="90678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Swarm-based Agriculture Monitoring System (SAMS)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7B3C8B-944F-46ED-8EF8-26550FD6AB9F}"/>
              </a:ext>
            </a:extLst>
          </p:cNvPr>
          <p:cNvSpPr txBox="1"/>
          <p:nvPr/>
        </p:nvSpPr>
        <p:spPr>
          <a:xfrm>
            <a:off x="928850" y="744346"/>
            <a:ext cx="105155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Baskerville Old Face" panose="02020602080505020303" pitchFamily="18" charset="0"/>
              </a:rPr>
              <a:t>RNS INSTITUTE OF TECHNOLOGY</a:t>
            </a:r>
          </a:p>
          <a:p>
            <a:pPr algn="ctr"/>
            <a:r>
              <a:rPr lang="en-US" sz="3200" dirty="0">
                <a:solidFill>
                  <a:srgbClr val="C00000"/>
                </a:solidFill>
                <a:latin typeface="Baskerville Old Face" panose="02020602080505020303" pitchFamily="18" charset="0"/>
              </a:rPr>
              <a:t>Department of Computer Science &amp; Engineering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B570B1C0-DAEB-4866-80B2-4C013121A9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142054"/>
              </p:ext>
            </p:extLst>
          </p:nvPr>
        </p:nvGraphicFramePr>
        <p:xfrm>
          <a:off x="5773480" y="-12828"/>
          <a:ext cx="637954" cy="80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408430" imgH="2011680" progId="Word.Picture.8">
                  <p:embed/>
                </p:oleObj>
              </mc:Choice>
              <mc:Fallback>
                <p:oleObj name="Picture" r:id="rId2" imgW="1408430" imgH="2011680" progId="Word.Picture.8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B570B1C0-DAEB-4866-80B2-4C013121A9B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73480" y="-12828"/>
                        <a:ext cx="637954" cy="800475"/>
                      </a:xfrm>
                      <a:prstGeom prst="rect">
                        <a:avLst/>
                      </a:prstGeom>
                      <a:blipFill rotWithShape="1">
                        <a:blip r:embed="rId4"/>
                      </a:blip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C73F30B5-1005-4190-BF9D-D9370AE7FDE9}"/>
              </a:ext>
            </a:extLst>
          </p:cNvPr>
          <p:cNvSpPr/>
          <p:nvPr/>
        </p:nvSpPr>
        <p:spPr>
          <a:xfrm>
            <a:off x="502749" y="4278870"/>
            <a:ext cx="5270731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800" b="1" u="sng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Student Names:</a:t>
            </a:r>
          </a:p>
          <a:p>
            <a:pPr eaLnBrk="1" hangingPunct="1"/>
            <a:r>
              <a:rPr lang="en-US" altLang="en-US" sz="2400" b="1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Abhijeeth K V </a:t>
            </a:r>
            <a:r>
              <a:rPr lang="en-US" altLang="en-US" sz="2400" b="1" dirty="0">
                <a:solidFill>
                  <a:srgbClr val="C0000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[1RN23CS005]</a:t>
            </a:r>
          </a:p>
          <a:p>
            <a:r>
              <a:rPr lang="en-US" altLang="en-US" sz="2400" b="1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Akarsh Raj M </a:t>
            </a:r>
            <a:r>
              <a:rPr lang="en-US" altLang="en-US" sz="2400" b="1" dirty="0" err="1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Hulihalli</a:t>
            </a:r>
            <a:r>
              <a:rPr lang="en-US" altLang="en-US" sz="2400" b="1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[1RN23CS018]</a:t>
            </a:r>
          </a:p>
          <a:p>
            <a:r>
              <a:rPr lang="en-US" altLang="en-US" sz="2400" b="1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Deepthi D R </a:t>
            </a:r>
            <a:r>
              <a:rPr lang="en-US" altLang="en-US" sz="2400" b="1" dirty="0">
                <a:solidFill>
                  <a:srgbClr val="C0000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[1RN23CS068]</a:t>
            </a:r>
          </a:p>
          <a:p>
            <a:r>
              <a:rPr lang="en-US" altLang="en-US" sz="2400" b="1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Jaishnav Kalmangi </a:t>
            </a:r>
            <a:r>
              <a:rPr lang="en-US" altLang="en-US" sz="2400" b="1" dirty="0">
                <a:solidFill>
                  <a:srgbClr val="C0000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[1RN23CS092]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1F2B66-452A-4602-B77B-E10ED6DA8C36}"/>
              </a:ext>
            </a:extLst>
          </p:cNvPr>
          <p:cNvSpPr/>
          <p:nvPr/>
        </p:nvSpPr>
        <p:spPr>
          <a:xfrm>
            <a:off x="8119286" y="4482438"/>
            <a:ext cx="372582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/>
            <a:r>
              <a:rPr lang="en-US" altLang="en-US" sz="2800" b="1" u="sng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Guide Name:</a:t>
            </a:r>
          </a:p>
          <a:p>
            <a:pPr algn="just"/>
            <a:r>
              <a:rPr lang="en-US" altLang="en-US" sz="2400" b="1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Ms. Chethana H R</a:t>
            </a:r>
          </a:p>
          <a:p>
            <a:pPr algn="just"/>
            <a:r>
              <a:rPr lang="en-US" altLang="en-US" sz="2400" b="1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just" eaLnBrk="1" hangingPunct="1"/>
            <a:r>
              <a:rPr lang="en-US" altLang="en-US" sz="2400" b="1" dirty="0">
                <a:solidFill>
                  <a:srgbClr val="002060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Dept. of CSE, RNSIT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6E8EF12-3D44-47FD-9DF5-634DEB269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7" name="Picture 8">
            <a:extLst>
              <a:ext uri="{FF2B5EF4-FFF2-40B4-BE49-F238E27FC236}">
                <a16:creationId xmlns:a16="http://schemas.microsoft.com/office/drawing/2014/main" id="{04ABDC97-232A-441B-81D8-EC6015E5F0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99" y="608381"/>
            <a:ext cx="1260505" cy="1349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18CB6B-E683-470C-777B-080BD875137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810" y="489734"/>
            <a:ext cx="1260504" cy="1328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5961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88" y="228600"/>
            <a:ext cx="12188825" cy="6096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Sitka Banner" panose="02000505000000020004" pitchFamily="2" charset="0"/>
              </a:rPr>
              <a:t>AGENDA</a:t>
            </a:r>
          </a:p>
        </p:txBody>
      </p:sp>
      <p:sp>
        <p:nvSpPr>
          <p:cNvPr id="4" name="Shape 193">
            <a:extLst>
              <a:ext uri="{FF2B5EF4-FFF2-40B4-BE49-F238E27FC236}">
                <a16:creationId xmlns:a16="http://schemas.microsoft.com/office/drawing/2014/main" id="{234B2C90-16E2-4FB6-90D6-CEB309DAAAAB}"/>
              </a:ext>
            </a:extLst>
          </p:cNvPr>
          <p:cNvSpPr txBox="1">
            <a:spLocks/>
          </p:cNvSpPr>
          <p:nvPr/>
        </p:nvSpPr>
        <p:spPr>
          <a:xfrm>
            <a:off x="1219199" y="850231"/>
            <a:ext cx="8552121" cy="2873981"/>
          </a:xfrm>
          <a:prstGeom prst="rect">
            <a:avLst/>
          </a:prstGeom>
        </p:spPr>
        <p:txBody>
          <a:bodyPr vert="horz" wrap="square" lIns="68569" tIns="68569" rIns="68569" bIns="68569" rtlCol="0" anchor="t" anchorCtr="0">
            <a:no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SzPct val="96000"/>
              <a:buFont typeface="+mj-lt"/>
              <a:buAutoNum type="arabicPeriod"/>
            </a:pPr>
            <a:r>
              <a:rPr lang="en-IN" altLang="en-US" sz="3200" dirty="0">
                <a:solidFill>
                  <a:srgbClr val="002060"/>
                </a:solidFill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96000"/>
              <a:buFont typeface="+mj-lt"/>
              <a:buAutoNum type="arabicPeriod"/>
            </a:pPr>
            <a:r>
              <a:rPr lang="en-IN" altLang="en-US" sz="3200" dirty="0">
                <a:solidFill>
                  <a:srgbClr val="002060"/>
                </a:solidFill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Literature Survey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96000"/>
              <a:buFont typeface="+mj-lt"/>
              <a:buAutoNum type="arabicPeriod"/>
            </a:pPr>
            <a:r>
              <a:rPr lang="en-IN" altLang="en-US" sz="3200" dirty="0">
                <a:solidFill>
                  <a:srgbClr val="002060"/>
                </a:solidFill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Problem Statement &amp; Objectives 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96000"/>
              <a:buFont typeface="+mj-lt"/>
              <a:buAutoNum type="arabicPeriod"/>
            </a:pPr>
            <a:r>
              <a:rPr lang="en-IN" altLang="en-US" sz="3200" dirty="0">
                <a:solidFill>
                  <a:srgbClr val="002060"/>
                </a:solidFill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Methodology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SzPct val="96000"/>
              <a:buFont typeface="+mj-lt"/>
              <a:buAutoNum type="arabicPeriod"/>
            </a:pPr>
            <a:r>
              <a:rPr lang="en-IN" altLang="en-US" sz="3200" dirty="0">
                <a:solidFill>
                  <a:srgbClr val="002060"/>
                </a:solidFill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References </a:t>
            </a:r>
          </a:p>
          <a:p>
            <a:pPr indent="-52705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52303-E54D-4373-B2C7-765BA802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5D61DB88-334B-B7BB-CCCA-5473892B208A}"/>
              </a:ext>
            </a:extLst>
          </p:cNvPr>
          <p:cNvSpPr txBox="1">
            <a:spLocks/>
          </p:cNvSpPr>
          <p:nvPr/>
        </p:nvSpPr>
        <p:spPr>
          <a:xfrm>
            <a:off x="2313317" y="6356349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12/03/2026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B60FB5-827F-1CB4-7B92-C690C48806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810" y="489734"/>
            <a:ext cx="1260504" cy="1328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E16EC47-0DF8-BC61-4C54-E553FFEA16CF}"/>
              </a:ext>
            </a:extLst>
          </p:cNvPr>
          <p:cNvGrpSpPr/>
          <p:nvPr/>
        </p:nvGrpSpPr>
        <p:grpSpPr>
          <a:xfrm>
            <a:off x="362777" y="3897328"/>
            <a:ext cx="11469928" cy="2231557"/>
            <a:chOff x="326441" y="3897328"/>
            <a:chExt cx="11469928" cy="2231557"/>
          </a:xfrm>
        </p:grpSpPr>
        <p:pic>
          <p:nvPicPr>
            <p:cNvPr id="2050" name="Picture 2" descr="home banner-english | ICAR">
              <a:extLst>
                <a:ext uri="{FF2B5EF4-FFF2-40B4-BE49-F238E27FC236}">
                  <a16:creationId xmlns:a16="http://schemas.microsoft.com/office/drawing/2014/main" id="{DD979591-0D41-3FA6-B645-724A00D7FE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6845" y="3897329"/>
              <a:ext cx="6479524" cy="22315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The benefits of a digital approach to farming - Global Cause">
              <a:extLst>
                <a:ext uri="{FF2B5EF4-FFF2-40B4-BE49-F238E27FC236}">
                  <a16:creationId xmlns:a16="http://schemas.microsoft.com/office/drawing/2014/main" id="{FF57C158-0BD5-AE9C-DBEF-8A168DC3B8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9236" y="3897329"/>
              <a:ext cx="2644807" cy="22315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Smart Farming - BusinessToday">
              <a:extLst>
                <a:ext uri="{FF2B5EF4-FFF2-40B4-BE49-F238E27FC236}">
                  <a16:creationId xmlns:a16="http://schemas.microsoft.com/office/drawing/2014/main" id="{007546C0-5971-AE1D-8C6F-1B981677CF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7060"/>
            <a:stretch>
              <a:fillRect/>
            </a:stretch>
          </p:blipFill>
          <p:spPr bwMode="auto">
            <a:xfrm>
              <a:off x="326441" y="3897328"/>
              <a:ext cx="2059993" cy="22315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230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19D1EE-AF95-4373-B568-F22C9407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228601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Sitka Banner" pitchFamily="2" charset="0"/>
              </a:rPr>
              <a:t>INTRODUCTION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26B048-E727-470A-9F16-393057F5F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717" y="1104900"/>
            <a:ext cx="6568087" cy="49911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Agriculture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critical sector that requires continuous monitoring of environmental conditions such as </a:t>
            </a:r>
            <a:r>
              <a:rPr lang="en-US" sz="16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moisture, temperature, and humidity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ensure optimal crop growth.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farming practices often rely on </a:t>
            </a:r>
            <a:r>
              <a:rPr lang="en-US" sz="16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can be inefficient and inaccurate. Modern IoT-based monitoring systems improve data collection but typically rely on </a:t>
            </a:r>
            <a:r>
              <a:rPr lang="en-US" sz="16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architectures, which can suffer from sensor failures and unreliable readings.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Swarm intelligence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inspired by the collective behavior of natural systems such as ant colonies and bird flocks, enables </a:t>
            </a:r>
            <a:r>
              <a:rPr lang="en-US" sz="16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decision-making among multiple nodes.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</a:t>
            </a:r>
            <a:r>
              <a:rPr lang="en-US" sz="16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swarm-based agriculture monitoring system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 sensor nodes communicate with each other, validate data collectively, and provide intelligent insights to the analytics dashboard.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9D879-3E34-4FDE-9448-C2C2F556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651D008C-7F80-0936-159B-153C3E5EE226}"/>
              </a:ext>
            </a:extLst>
          </p:cNvPr>
          <p:cNvSpPr txBox="1">
            <a:spLocks/>
          </p:cNvSpPr>
          <p:nvPr/>
        </p:nvSpPr>
        <p:spPr>
          <a:xfrm>
            <a:off x="2304691" y="6372285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12/03/2026</a:t>
            </a:r>
            <a:endParaRPr lang="en-US" dirty="0"/>
          </a:p>
        </p:txBody>
      </p:sp>
      <p:pic>
        <p:nvPicPr>
          <p:cNvPr id="4098" name="Picture 2" descr="Indian Agriculture Images – Browse 227,823 Stock Photos, Vectors, and Video  | Adobe Stock">
            <a:extLst>
              <a:ext uri="{FF2B5EF4-FFF2-40B4-BE49-F238E27FC236}">
                <a16:creationId xmlns:a16="http://schemas.microsoft.com/office/drawing/2014/main" id="{FA6969B6-3933-D39B-CE8E-5B14F6F43C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18" r="24185"/>
          <a:stretch>
            <a:fillRect/>
          </a:stretch>
        </p:blipFill>
        <p:spPr bwMode="auto">
          <a:xfrm>
            <a:off x="7297033" y="1221219"/>
            <a:ext cx="4511444" cy="4874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66C57B-B17B-8FA8-F8A7-8262361829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422" y="470724"/>
            <a:ext cx="1260504" cy="1328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0794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19D1EE-AF95-4373-B568-F22C9407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228601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Sitka Banner" pitchFamily="2" charset="0"/>
              </a:rPr>
              <a:t>LITERATURE SURVEY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26B048-E727-470A-9F16-393057F5F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554301"/>
            <a:ext cx="11049000" cy="71315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Papers referred: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9D879-3E34-4FDE-9448-C2C2F556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F24C3907-DFFD-2DE1-9CB9-DC814667B1EF}"/>
              </a:ext>
            </a:extLst>
          </p:cNvPr>
          <p:cNvSpPr txBox="1">
            <a:spLocks/>
          </p:cNvSpPr>
          <p:nvPr/>
        </p:nvSpPr>
        <p:spPr>
          <a:xfrm>
            <a:off x="2106283" y="6356350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12/03/2026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8D5092-4F94-F819-96C1-AD619C1192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1377" y="-25125"/>
            <a:ext cx="1260504" cy="1328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CDF983-C77C-C275-BA8D-34863C9AB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612107"/>
              </p:ext>
            </p:extLst>
          </p:nvPr>
        </p:nvGraphicFramePr>
        <p:xfrm>
          <a:off x="865578" y="1303200"/>
          <a:ext cx="10533515" cy="501741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509050">
                  <a:extLst>
                    <a:ext uri="{9D8B030D-6E8A-4147-A177-3AD203B41FA5}">
                      <a16:colId xmlns:a16="http://schemas.microsoft.com/office/drawing/2014/main" val="921374771"/>
                    </a:ext>
                  </a:extLst>
                </a:gridCol>
                <a:gridCol w="2519142">
                  <a:extLst>
                    <a:ext uri="{9D8B030D-6E8A-4147-A177-3AD203B41FA5}">
                      <a16:colId xmlns:a16="http://schemas.microsoft.com/office/drawing/2014/main" val="1875778116"/>
                    </a:ext>
                  </a:extLst>
                </a:gridCol>
                <a:gridCol w="2773478">
                  <a:extLst>
                    <a:ext uri="{9D8B030D-6E8A-4147-A177-3AD203B41FA5}">
                      <a16:colId xmlns:a16="http://schemas.microsoft.com/office/drawing/2014/main" val="1949014288"/>
                    </a:ext>
                  </a:extLst>
                </a:gridCol>
                <a:gridCol w="2416196">
                  <a:extLst>
                    <a:ext uri="{9D8B030D-6E8A-4147-A177-3AD203B41FA5}">
                      <a16:colId xmlns:a16="http://schemas.microsoft.com/office/drawing/2014/main" val="622861993"/>
                    </a:ext>
                  </a:extLst>
                </a:gridCol>
                <a:gridCol w="2315649">
                  <a:extLst>
                    <a:ext uri="{9D8B030D-6E8A-4147-A177-3AD203B41FA5}">
                      <a16:colId xmlns:a16="http://schemas.microsoft.com/office/drawing/2014/main" val="1564317514"/>
                    </a:ext>
                  </a:extLst>
                </a:gridCol>
              </a:tblGrid>
              <a:tr h="2398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/ Study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Done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/ Methods Used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34263" marR="34263" marT="17131" marB="17131" anchor="ctr"/>
                </a:tc>
                <a:extLst>
                  <a:ext uri="{0D108BD9-81ED-4DB2-BD59-A6C34878D82A}">
                    <a16:rowId xmlns:a16="http://schemas.microsoft.com/office/drawing/2014/main" val="3633172845"/>
                  </a:ext>
                </a:extLst>
              </a:tr>
              <a:tr h="8565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Swarm Intelligence: A Survey of Model Classification and Applications (2025)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swarm intelligence models inspired by collective behavior in animals such as ants, birds, and fish. Explores how distributed agents collaborate to solve complex problems.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Swarm models, Ant Colony Optimization (ACO), Particle Swarm Optimization (PSO), Artificial Bee Colony, multi-agent systems.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Mostly theoretical models and simulations; limited real-world implementations in practical systems.</a:t>
                      </a:r>
                    </a:p>
                  </a:txBody>
                  <a:tcPr marL="34263" marR="34263" marT="17131" marB="17131" anchor="ctr"/>
                </a:tc>
                <a:extLst>
                  <a:ext uri="{0D108BD9-81ED-4DB2-BD59-A6C34878D82A}">
                    <a16:rowId xmlns:a16="http://schemas.microsoft.com/office/drawing/2014/main" val="3492313372"/>
                  </a:ext>
                </a:extLst>
              </a:tr>
              <a:tr h="65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 of Things and Smart Sensors in Agriculture: Scopes and Challenges</a:t>
                      </a:r>
                    </a:p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(2023)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Discusses the role of IoT and smart sensors in precision agriculture for monitoring soil, weather, pests, and crop conditions.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sensors, wireless sensor networks, UAVs, AI and machine learning, cloud data processing.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implementation cost, data security concerns, lack of digital awareness among farmers.</a:t>
                      </a:r>
                    </a:p>
                  </a:txBody>
                  <a:tcPr marL="34263" marR="34263" marT="17131" marB="17131" anchor="ctr"/>
                </a:tc>
                <a:extLst>
                  <a:ext uri="{0D108BD9-81ED-4DB2-BD59-A6C34878D82A}">
                    <a16:rowId xmlns:a16="http://schemas.microsoft.com/office/drawing/2014/main" val="2622061680"/>
                  </a:ext>
                </a:extLst>
              </a:tr>
              <a:tr h="753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Smart Agriculture Monitoring System (2024)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Proposes an IoT-based system to monitor environmental conditions such as soil moisture, temperature, and humidity to improve crop productivity.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 microcontroller, DHT11 sensor, soil moisture sensor,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communication, Blynk mobile application.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 basic monitoring and irrigation automation; lacks advanced analytics or distributed collaboration between sensors.</a:t>
                      </a:r>
                    </a:p>
                  </a:txBody>
                  <a:tcPr marL="34263" marR="34263" marT="17131" marB="17131" anchor="ctr"/>
                </a:tc>
                <a:extLst>
                  <a:ext uri="{0D108BD9-81ED-4DB2-BD59-A6C34878D82A}">
                    <a16:rowId xmlns:a16="http://schemas.microsoft.com/office/drawing/2014/main" val="2472170839"/>
                  </a:ext>
                </a:extLst>
              </a:tr>
              <a:tr h="65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MQTT Protocol for the IoT (2023)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Explains MQTT as a lightweight communication protocol for IoT devices to efficiently exchange messages over networks.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Publish–subscribe architecture, MQTT broker, MQTT clients, TCP/IP communication, QoS levels.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centralized broker; limited built-in security features; scalability challenges for very large systems.</a:t>
                      </a:r>
                    </a:p>
                  </a:txBody>
                  <a:tcPr marL="34263" marR="34263" marT="17131" marB="17131" anchor="ctr"/>
                </a:tc>
                <a:extLst>
                  <a:ext uri="{0D108BD9-81ED-4DB2-BD59-A6C34878D82A}">
                    <a16:rowId xmlns:a16="http://schemas.microsoft.com/office/drawing/2014/main" val="408578573"/>
                  </a:ext>
                </a:extLst>
              </a:tr>
              <a:tr h="548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Swarm-Based Optimization Algorithms (2023)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swarm-based algorithms inspired by natural collective behavior to solve optimization problems.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 Colony Optimization, Particle Swarm Optimization, Artificial Bee Colony, Cuckoo Search algorithms.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 tuning challenges, computational complexity, limited integration with real-time IoT environments.</a:t>
                      </a:r>
                    </a:p>
                  </a:txBody>
                  <a:tcPr marL="34263" marR="34263" marT="17131" marB="17131" anchor="ctr"/>
                </a:tc>
                <a:extLst>
                  <a:ext uri="{0D108BD9-81ED-4DB2-BD59-A6C34878D82A}">
                    <a16:rowId xmlns:a16="http://schemas.microsoft.com/office/drawing/2014/main" val="3980822530"/>
                  </a:ext>
                </a:extLst>
              </a:tr>
              <a:tr h="65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Swarm Robotics and Multi-Agent Systems in Agriculture (2025)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Explores use of multiple cooperative robots for agricultural tasks such as monitoring crops, irrigation, pest detection, and harvesting.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systems, robotic sensors, AI/ML algorithms, wireless communication, GPS navigation, computer vision.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hardware cost, communication challenges between robots, energy constraints and coordination complexity.</a:t>
                      </a:r>
                    </a:p>
                  </a:txBody>
                  <a:tcPr marL="34263" marR="34263" marT="17131" marB="17131" anchor="ctr"/>
                </a:tc>
                <a:extLst>
                  <a:ext uri="{0D108BD9-81ED-4DB2-BD59-A6C34878D82A}">
                    <a16:rowId xmlns:a16="http://schemas.microsoft.com/office/drawing/2014/main" val="1490678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211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04AEC-FEA4-EBEA-B38B-4C4AC3671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DB1258-9862-E7E3-D3CA-C5837FADE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228601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Sitka Banner" pitchFamily="2" charset="0"/>
              </a:rPr>
              <a:t>LITERATURE SURVEY </a:t>
            </a:r>
            <a:r>
              <a:rPr lang="en-US" sz="4000" b="1" i="1" dirty="0">
                <a:latin typeface="Sitka Banner" pitchFamily="2" charset="0"/>
              </a:rPr>
              <a:t>(continued…)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340BF-A054-E282-3A4E-F99481B95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C4519B09-A808-ACF3-D7BD-D42D5905FA70}"/>
              </a:ext>
            </a:extLst>
          </p:cNvPr>
          <p:cNvSpPr txBox="1">
            <a:spLocks/>
          </p:cNvSpPr>
          <p:nvPr/>
        </p:nvSpPr>
        <p:spPr>
          <a:xfrm>
            <a:off x="2106283" y="6356350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12/03/2026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FCA24C8-943E-BB7D-7291-CDA438297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036208"/>
              </p:ext>
            </p:extLst>
          </p:nvPr>
        </p:nvGraphicFramePr>
        <p:xfrm>
          <a:off x="774742" y="1303200"/>
          <a:ext cx="10533515" cy="447770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690720">
                  <a:extLst>
                    <a:ext uri="{9D8B030D-6E8A-4147-A177-3AD203B41FA5}">
                      <a16:colId xmlns:a16="http://schemas.microsoft.com/office/drawing/2014/main" val="316595357"/>
                    </a:ext>
                  </a:extLst>
                </a:gridCol>
                <a:gridCol w="2609976">
                  <a:extLst>
                    <a:ext uri="{9D8B030D-6E8A-4147-A177-3AD203B41FA5}">
                      <a16:colId xmlns:a16="http://schemas.microsoft.com/office/drawing/2014/main" val="1875778116"/>
                    </a:ext>
                  </a:extLst>
                </a:gridCol>
                <a:gridCol w="2210305">
                  <a:extLst>
                    <a:ext uri="{9D8B030D-6E8A-4147-A177-3AD203B41FA5}">
                      <a16:colId xmlns:a16="http://schemas.microsoft.com/office/drawing/2014/main" val="1949014288"/>
                    </a:ext>
                  </a:extLst>
                </a:gridCol>
                <a:gridCol w="2416196">
                  <a:extLst>
                    <a:ext uri="{9D8B030D-6E8A-4147-A177-3AD203B41FA5}">
                      <a16:colId xmlns:a16="http://schemas.microsoft.com/office/drawing/2014/main" val="622861993"/>
                    </a:ext>
                  </a:extLst>
                </a:gridCol>
                <a:gridCol w="2606318">
                  <a:extLst>
                    <a:ext uri="{9D8B030D-6E8A-4147-A177-3AD203B41FA5}">
                      <a16:colId xmlns:a16="http://schemas.microsoft.com/office/drawing/2014/main" val="1564317514"/>
                    </a:ext>
                  </a:extLst>
                </a:gridCol>
              </a:tblGrid>
              <a:tr h="2398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/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Done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/ Methods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3172845"/>
                  </a:ext>
                </a:extLst>
              </a:tr>
              <a:tr h="8565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Comprehensive Review on IoT in Smart Agriculture (2024)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how IoT is used for crop monitoring and smart irrigation.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sensors, wireless networks, cloud platforms.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cost and connectivity issues in rural areas.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2313372"/>
                  </a:ext>
                </a:extLst>
              </a:tr>
              <a:tr h="65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Sensors and Smart Data for Precision Agriculture (2024)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Discusses modern sensors used for monitoring soil, crops, and environment.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sensors, remote sensing, data analytics.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architecture and large data processing requirements.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061680"/>
                  </a:ext>
                </a:extLst>
              </a:tr>
              <a:tr h="753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Intelligence of Things (</a:t>
                      </a:r>
                      <a:r>
                        <a:rPr lang="en-US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AIoT</a:t>
                      </a: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for Precision Agriculture – A Review (2025)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Explores integration of AI and IoT for crop monitoring and farm automation.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algorithms, IoT sensors, cloud computing.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datasets and reliable network connectivity.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2170839"/>
                  </a:ext>
                </a:extLst>
              </a:tr>
              <a:tr h="65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Literature Review on IoT in Smart Agriculture (2025)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IoT technologies used to improve agricultural productivity.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devices, environmental sensors, mobile apps.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issues and infrastructure cost.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578573"/>
                  </a:ext>
                </a:extLst>
              </a:tr>
              <a:tr h="548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 of Smart Sensors and IoT in Precision Agriculture (2025)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Examines how sensors and IoT help optimize irrigation and fertilizer usage.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Soil sensors, IoT communication protocols, monitoring systems.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Energy limitations and scalability challenges.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822530"/>
                  </a:ext>
                </a:extLst>
              </a:tr>
              <a:tr h="6509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34263" marR="34263" marT="17131" marB="171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Learning-Based Precision Agriculture with IoT Sensors – Review (2026)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machine learning methods for analyzing agricultural sensor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models, IoT sensor networks, data analytics.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requirements and limited real-world deployment.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067813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CB63209-5A6B-081F-2FC1-EA8C89938A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1377" y="-25125"/>
            <a:ext cx="1260504" cy="1328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539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971C0DA6-E7D2-3632-9DF9-B93A9FF6FC54}"/>
              </a:ext>
            </a:extLst>
          </p:cNvPr>
          <p:cNvSpPr txBox="1">
            <a:spLocks/>
          </p:cNvSpPr>
          <p:nvPr/>
        </p:nvSpPr>
        <p:spPr>
          <a:xfrm>
            <a:off x="2106283" y="6356350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12/03/2026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C058F-FDED-638B-B61C-BB55080E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94AFD05-5B25-995C-D6F4-B88DD9922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332" y="499798"/>
            <a:ext cx="11049000" cy="71315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from going through the papers: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B93462D-C2B4-020E-92CD-02FCE0CBFDEE}"/>
              </a:ext>
            </a:extLst>
          </p:cNvPr>
          <p:cNvSpPr txBox="1">
            <a:spLocks/>
          </p:cNvSpPr>
          <p:nvPr/>
        </p:nvSpPr>
        <p:spPr>
          <a:xfrm>
            <a:off x="711789" y="1526046"/>
            <a:ext cx="11049000" cy="4620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1200"/>
              </a:spcBef>
              <a:buNone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B35D903-C155-A9A3-EA9A-6510A83B848B}"/>
              </a:ext>
            </a:extLst>
          </p:cNvPr>
          <p:cNvSpPr txBox="1">
            <a:spLocks/>
          </p:cNvSpPr>
          <p:nvPr/>
        </p:nvSpPr>
        <p:spPr>
          <a:xfrm>
            <a:off x="820032" y="1310747"/>
            <a:ext cx="6568087" cy="49911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agricultural monitoring systems use IoT sensors and wireless networks to collect data such as soil moisture, temperature, and humidity for crop monitoring.</a:t>
            </a:r>
          </a:p>
          <a:p>
            <a:pPr marL="285750" indent="-285750">
              <a:lnSpc>
                <a:spcPct val="110000"/>
              </a:lnSpc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typically rely on microcontrollers (e.g., ESP32/Arduino), cloud platforms, and communication protocols like MQTT to transmit and visualize real-time farm data.</a:t>
            </a:r>
          </a:p>
          <a:p>
            <a:pPr marL="285750" indent="-285750">
              <a:lnSpc>
                <a:spcPct val="110000"/>
              </a:lnSpc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in swarm intelligence and multi-agent systems shows that distributed agents can collaboratively perform tasks such as monitoring, optimization, and decision making without centralized control.</a:t>
            </a:r>
          </a:p>
          <a:p>
            <a:pPr marL="285750" indent="-285750">
              <a:lnSpc>
                <a:spcPct val="110000"/>
              </a:lnSpc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Although these technologies improve monitoring and automation, many implementations involve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deployment costs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architectures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 simulation-based swarm models rather than practical distributed systems.</a:t>
            </a:r>
          </a:p>
          <a:p>
            <a:pPr marL="285750" indent="-285750">
              <a:lnSpc>
                <a:spcPct val="110000"/>
              </a:lnSpc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current systems mainly focus on </a:t>
            </a:r>
            <a:r>
              <a:rPr lang="en-US" sz="18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basic automation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limited emphasis on intelligent anomaly detection, collaborative validation between nodes, and scalable swarm-based monitoring.</a:t>
            </a:r>
          </a:p>
        </p:txBody>
      </p:sp>
      <p:pic>
        <p:nvPicPr>
          <p:cNvPr id="3074" name="Picture 2" descr="Centralized Vs Decentralized Apps: What is Best For Business?">
            <a:extLst>
              <a:ext uri="{FF2B5EF4-FFF2-40B4-BE49-F238E27FC236}">
                <a16:creationId xmlns:a16="http://schemas.microsoft.com/office/drawing/2014/main" id="{5D39B091-33F8-9F0C-B97D-CBFB11375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362" y="4232895"/>
            <a:ext cx="4043142" cy="206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igh cost Photos - Download Free High-Quality Pictures | Freepik">
            <a:extLst>
              <a:ext uri="{FF2B5EF4-FFF2-40B4-BE49-F238E27FC236}">
                <a16:creationId xmlns:a16="http://schemas.microsoft.com/office/drawing/2014/main" id="{6514EEC4-85B3-F8F1-CD03-735EEC6AA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9394" y="1573207"/>
            <a:ext cx="3804827" cy="2534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D40A6D-FB09-713E-736E-2F58B6FA61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810" y="489734"/>
            <a:ext cx="1260504" cy="1328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1836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5DDDB5-E4FC-B62F-961E-C2720C588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268213"/>
              </p:ext>
            </p:extLst>
          </p:nvPr>
        </p:nvGraphicFramePr>
        <p:xfrm>
          <a:off x="777644" y="1238716"/>
          <a:ext cx="10515600" cy="40233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451204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440647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748663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4248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centralized IoT systems where sensors send data to a single server/cloud.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point of failure and limited scalability.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for distributed/swarm-based monitoring systems.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175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 and display basic environmental data (soil moisture, temperature, humidity).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Mostly monitoring only; limited anomaly or fault detection.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for intelligent fault/anomaly detection.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3301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expensive hardware or complex setups in some smart farming solutions.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deployment cost for large farms.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for low-cost monitoring systems using simple sensor nodes.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349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communication protocols for IoT data transfer.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Some systems use heavy or inefficient communication methods.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for lightweight protocols (e.g., MQTT) for efficient communication.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64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364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19D1EE-AF95-4373-B568-F22C9407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228601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Sitka Banner" pitchFamily="2" charset="0"/>
              </a:rPr>
              <a:t>PROBLEM STATEMENT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26B048-E727-470A-9F16-393057F5F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119893"/>
            <a:ext cx="11049000" cy="49911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monitoring is often done through </a:t>
            </a:r>
            <a:r>
              <a:rPr lang="en-US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observation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systems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makes it difficult to continuously track environmental conditions such as soil moisture, temperature, and humidity. This lack of real-time monitoring makes it hard to detect anomalies or sudden changes that may affect crop health and irrigation decisions. Additionally, many existing monitoring systems rely on </a:t>
            </a:r>
            <a:r>
              <a:rPr lang="en-US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limited data analysis capabilities.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smart monitoring system that can continuously collect environmental data, detect abnormal conditions, and support better agricultural management through data-driven insights.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9D879-3E34-4FDE-9448-C2C2F556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93AD2196-A063-8C1C-3112-2F7D09724AC7}"/>
              </a:ext>
            </a:extLst>
          </p:cNvPr>
          <p:cNvSpPr txBox="1">
            <a:spLocks/>
          </p:cNvSpPr>
          <p:nvPr/>
        </p:nvSpPr>
        <p:spPr>
          <a:xfrm>
            <a:off x="2106283" y="6356350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12/03/2026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81C35-685C-00CF-C68B-09C1540CC7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604" y="-9439"/>
            <a:ext cx="1108627" cy="11682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8920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060B8-A5DB-D74F-0637-62E48010E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ED91D3-B97E-8B4B-5C9C-4F048EDC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228601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Sitka Banner" pitchFamily="2" charset="0"/>
              </a:rPr>
              <a:t>Objectives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A687D1A-B6FE-2ABA-64A6-F69D7596E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491" y="1032367"/>
            <a:ext cx="11049000" cy="499110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distributed agricultural monitoring system using multiple sensor nodes deployed across the field for real-time data acquisition.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enable swarm-based communication among sensor nodes for collaborative data sharing, validation, and decentralized operation.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continuously monitor key environmental parameters such as soil moisture, temperature, and humidity to support optimal crop growth and irrigation planning.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collected data for detecting abnormal environmental conditions and to generate timely alerts for effective decision-making.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centralized dashboard for real-time visualization and monitoring, ensuring scalability and fault tolerance of the overall system.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E1481-F586-68D5-C45B-6E752341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E4E90112-A2AB-589E-8FE6-C6083C262DA5}"/>
              </a:ext>
            </a:extLst>
          </p:cNvPr>
          <p:cNvSpPr txBox="1">
            <a:spLocks/>
          </p:cNvSpPr>
          <p:nvPr/>
        </p:nvSpPr>
        <p:spPr>
          <a:xfrm>
            <a:off x="2106283" y="6356350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12/03/2026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A8C181-BF78-6B83-C10B-707DEEE5C4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604" y="-9439"/>
            <a:ext cx="1108627" cy="11682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8266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19D1EE-AF95-4373-B568-F22C9407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228601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Sitka Banner" pitchFamily="2" charset="0"/>
              </a:rPr>
              <a:t>METHODOLOGY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9D879-3E34-4FDE-9448-C2C2F556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1188F938-05AB-2441-303E-8EF3111E38E6}"/>
              </a:ext>
            </a:extLst>
          </p:cNvPr>
          <p:cNvSpPr txBox="1">
            <a:spLocks/>
          </p:cNvSpPr>
          <p:nvPr/>
        </p:nvSpPr>
        <p:spPr>
          <a:xfrm>
            <a:off x="2106283" y="6356350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12/03/2026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C0FE4-6999-937A-20B0-7353A50FBE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790" y="228601"/>
            <a:ext cx="1260504" cy="132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0CD6C9-137D-CECE-1D2E-5653AD67FA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775"/>
          <a:stretch>
            <a:fillRect/>
          </a:stretch>
        </p:blipFill>
        <p:spPr>
          <a:xfrm>
            <a:off x="330300" y="1081215"/>
            <a:ext cx="1350776" cy="48593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58D5E9-7320-8CEA-BBBC-BB9223BE51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67"/>
          <a:stretch>
            <a:fillRect/>
          </a:stretch>
        </p:blipFill>
        <p:spPr>
          <a:xfrm>
            <a:off x="1768681" y="1227055"/>
            <a:ext cx="1769320" cy="4856233"/>
          </a:xfrm>
          <a:prstGeom prst="rect">
            <a:avLst/>
          </a:prstGeom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730C1C5-5193-39C7-CD09-D8138B40A8E5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 flipH="1" flipV="1">
            <a:off x="-527265" y="2760007"/>
            <a:ext cx="4713558" cy="1647653"/>
          </a:xfrm>
          <a:prstGeom prst="bentConnector5">
            <a:avLst>
              <a:gd name="adj1" fmla="val -4850"/>
              <a:gd name="adj2" fmla="val 43649"/>
              <a:gd name="adj3" fmla="val 10485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45743889-7EBB-6329-17CB-984A04663FF1}"/>
              </a:ext>
            </a:extLst>
          </p:cNvPr>
          <p:cNvSpPr txBox="1">
            <a:spLocks/>
          </p:cNvSpPr>
          <p:nvPr/>
        </p:nvSpPr>
        <p:spPr>
          <a:xfrm>
            <a:off x="3855232" y="1249216"/>
            <a:ext cx="7916911" cy="49911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Sensor Data Collection</a:t>
            </a:r>
            <a:b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parameters such as soil moisture, temperature, and humidity are collected using sensors connected to ESP32 microcontroller nodes.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Swarm-Based Communication</a:t>
            </a:r>
            <a:b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sensor nodes form a distributed network where nodes communicate with each other and transmit data using lightweight communication protocols such as MQTT.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Data Transmission to Backend</a:t>
            </a:r>
            <a:b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is transmitted to a backend server where it is processed and stored in a database.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Data Processing and Analytics</a:t>
            </a:r>
            <a:b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backend system analyzes the sensor data to identify abnormal conditions or anomalies in environmental parameters.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Visualization and Monitoring Dashboard</a:t>
            </a:r>
            <a:b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data is displayed through a web-based dashboard that provides real-time monitoring, visualizations, and alerts.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C01DA4-6CB8-C794-F01C-44B2EB135832}"/>
              </a:ext>
            </a:extLst>
          </p:cNvPr>
          <p:cNvSpPr/>
          <p:nvPr/>
        </p:nvSpPr>
        <p:spPr>
          <a:xfrm>
            <a:off x="1871189" y="1081215"/>
            <a:ext cx="1545146" cy="2515829"/>
          </a:xfrm>
          <a:prstGeom prst="rect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E538C3-5797-8917-95A9-3405D5433266}"/>
              </a:ext>
            </a:extLst>
          </p:cNvPr>
          <p:cNvSpPr txBox="1"/>
          <p:nvPr/>
        </p:nvSpPr>
        <p:spPr>
          <a:xfrm>
            <a:off x="2765428" y="451546"/>
            <a:ext cx="1545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</a:t>
            </a:r>
          </a:p>
        </p:txBody>
      </p:sp>
    </p:spTree>
    <p:extLst>
      <p:ext uri="{BB962C8B-B14F-4D97-AF65-F5344CB8AC3E}">
        <p14:creationId xmlns:p14="http://schemas.microsoft.com/office/powerpoint/2010/main" val="407032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5E4E2B-8C6B-A83C-FB2E-F78A1C41B5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790" y="228601"/>
            <a:ext cx="1260504" cy="13283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712595E-00F6-9874-38D7-FD9F74F3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Date Placeholder 14">
            <a:extLst>
              <a:ext uri="{FF2B5EF4-FFF2-40B4-BE49-F238E27FC236}">
                <a16:creationId xmlns:a16="http://schemas.microsoft.com/office/drawing/2014/main" id="{9A2AECC8-223D-BB13-6828-DD223CD65DFA}"/>
              </a:ext>
            </a:extLst>
          </p:cNvPr>
          <p:cNvSpPr txBox="1">
            <a:spLocks/>
          </p:cNvSpPr>
          <p:nvPr/>
        </p:nvSpPr>
        <p:spPr>
          <a:xfrm>
            <a:off x="2106283" y="6356350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12/03/2026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BE922EC2-DB1F-B123-C59F-BD9E9AF88E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3E33ED-39C5-9D02-16EF-09C2C6D861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0" b="11854"/>
          <a:stretch>
            <a:fillRect/>
          </a:stretch>
        </p:blipFill>
        <p:spPr>
          <a:xfrm>
            <a:off x="6333181" y="254084"/>
            <a:ext cx="4552824" cy="6045031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B33A983-35A1-80E2-DC41-F0D0C5681A93}"/>
              </a:ext>
            </a:extLst>
          </p:cNvPr>
          <p:cNvSpPr txBox="1">
            <a:spLocks/>
          </p:cNvSpPr>
          <p:nvPr/>
        </p:nvSpPr>
        <p:spPr>
          <a:xfrm>
            <a:off x="361134" y="950734"/>
            <a:ext cx="5972047" cy="501707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Layer: Soil moisture and DHT sensors collect environmental data such as soil moisture, temperature, and humidity from different locations in the farm.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Layer (ESP32 Swarm Nodes): Four ESP32 nodes act as swarm agents that read sensor data, share readings with other nodes, and perform basic anomaly detection at the edge.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Layer: Sensor nodes communicate using the MQTT protocol through an MQTT broker (</a:t>
            </a:r>
            <a:r>
              <a:rPr lang="en-US" sz="1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HiveMQ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enabling lightweight publish–subscribe messaging between devices and the backend.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Processing: A Spring Boot backend service subscribes to MQTT topics, processes incoming sensor data, and exposes REST APIs for data access.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Storage: Sensor readings, node status, and anomaly information are stored in a PostgreSQL database for persistence and historical analysis.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Layer: A React-based dashboard with chart visualizations provides real-time monitoring, historical trends, and anomaly alerts for farm conditions.</a:t>
            </a:r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Style: The system follows a hybrid edge–cloud architecture, where ESP32 nodes perform edge-level validation while cloud services handle storage, analytics, and visualization.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C50D75FE-74B4-8866-AB95-3D3CC674B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94013" y="136525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Sitka Banner" pitchFamily="2" charset="0"/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2364510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1F936D3-2B98-DD49-1689-C99849355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7462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Sitka Banner" pitchFamily="2" charset="0"/>
              </a:rPr>
              <a:t>OUTCOMES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D7C6AD-085D-E989-DC35-D42198081440}"/>
              </a:ext>
            </a:extLst>
          </p:cNvPr>
          <p:cNvSpPr txBox="1"/>
          <p:nvPr/>
        </p:nvSpPr>
        <p:spPr>
          <a:xfrm>
            <a:off x="546520" y="1086436"/>
            <a:ext cx="11140844" cy="3781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766445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Prototype of a swarm-based agriculture monitoring system.</a:t>
            </a:r>
            <a:endParaRPr lang="en-IN" sz="1600" dirty="0">
              <a:solidFill>
                <a:srgbClr val="00206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766445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Real-time environmental data collection from multiple nodes.</a:t>
            </a:r>
            <a:endParaRPr lang="en-IN" sz="1600" dirty="0">
              <a:solidFill>
                <a:srgbClr val="00206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766445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Reliable MQTT communication with backend storage.</a:t>
            </a:r>
            <a:endParaRPr lang="en-IN" sz="1600" dirty="0">
              <a:solidFill>
                <a:srgbClr val="00206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766445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Anomaly detection from sensor data.</a:t>
            </a:r>
            <a:endParaRPr lang="en-IN" sz="1600" dirty="0">
              <a:solidFill>
                <a:srgbClr val="00206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766445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 dashboard for live monitoring and alerts.</a:t>
            </a:r>
            <a:endParaRPr lang="en-IN" sz="1600" dirty="0">
              <a:solidFill>
                <a:srgbClr val="00206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766445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Improved monitoring compared to single-node systems.</a:t>
            </a:r>
            <a:endParaRPr lang="en-IN" sz="1600" dirty="0">
              <a:solidFill>
                <a:srgbClr val="00206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766445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IN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Demonstration of practical swarm intelligence in agriculture.</a:t>
            </a:r>
            <a:endParaRPr lang="en-IN" sz="1600" dirty="0">
              <a:solidFill>
                <a:srgbClr val="00206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766445" algn="just">
              <a:lnSpc>
                <a:spcPct val="150000"/>
              </a:lnSpc>
              <a:buNone/>
            </a:pPr>
            <a:r>
              <a:rPr lang="en-IN" sz="18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Ultimately, the system aims to support smarter farming practices, reduce manual effort, enable data-driven decisions, and contribute to sustainable agriculture.</a:t>
            </a:r>
            <a:endParaRPr lang="en-IN" sz="1600" dirty="0">
              <a:solidFill>
                <a:srgbClr val="00206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919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19D1EE-AF95-4373-B568-F22C9407B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" y="228601"/>
            <a:ext cx="12188825" cy="645936"/>
          </a:xfrm>
          <a:ln w="19050"/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Sitka Banner" pitchFamily="2" charset="0"/>
              </a:rPr>
              <a:t>REFERENCES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26B048-E727-470A-9F16-393057F5F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874537"/>
            <a:ext cx="11049000" cy="548181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Swarm intelligence </a:t>
            </a:r>
            <a:r>
              <a:rPr lang="en-IN" sz="1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https://en.wikipedia.org/wiki/Swarm_intelligence</a:t>
            </a:r>
            <a:endParaRPr lang="en-US" sz="1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Swarm Intelligence: A Survey of Model Classification and Applications - </a:t>
            </a:r>
            <a:r>
              <a:rPr lang="en-US" sz="16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https://www.sciencedirect.com/science/article/pii/S1000936124000931</a:t>
            </a:r>
            <a:endParaRPr lang="en-IN" sz="1600" i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Internet of Things and Smart Sensors in Agriculture: Scopes and Challenges - </a:t>
            </a:r>
            <a:r>
              <a:rPr lang="en-US" sz="16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https://www.sciencedirect.com/science/article/pii/S2666154323002831 </a:t>
            </a:r>
            <a:endParaRPr lang="en-IN" sz="1600" i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IoT-Based Smart Agriculture Monitoring System - </a:t>
            </a:r>
            <a:r>
              <a:rPr lang="en-US" sz="16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https://www.researchgate.net/publication/388173169_IoT-BASED_SMART_AGRICULTURE_MONITORING_SYSTEM</a:t>
            </a:r>
            <a:endParaRPr lang="en-IN" sz="1600" i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MQTT Protocol for the IoT - </a:t>
            </a:r>
            <a:r>
              <a:rPr lang="en-US" sz="16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https://www.researchgate.net/publication/373640610_MQTT_Protocol_for_the_IoT_-_Review_Paper</a:t>
            </a:r>
            <a:endParaRPr lang="en-IN" sz="1600" i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Swarm-Based Optimization Algorithms - </a:t>
            </a:r>
            <a:r>
              <a:rPr lang="en-IN" sz="16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https://onlinelibrary.wiley.com/doi/abs/10.1002/047134608X.W8352</a:t>
            </a:r>
            <a:endParaRPr lang="en-IN" sz="1600" i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Swarm Robotics and Multi-Agent Systems in Agriculture - </a:t>
            </a:r>
            <a:r>
              <a:rPr lang="en-US" sz="1600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https://www.researchgate.net/publication/392440423_Swarm_Robotics_and_Multi-Agent_Systems_in_Agriculture#:~:text=Swarm%20robotics%20and%20multi%2Dagent%20systems%20represent%20a%20transformative%20approach,and%20resilience%20in%20farming%20operations.</a:t>
            </a:r>
            <a:endParaRPr lang="en-US" sz="1600" i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[8] A Comprehensive Review on IoT in Smart Agriculture </a:t>
            </a:r>
            <a:r>
              <a:rPr lang="en-US" sz="1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https://www.sciencedirect.com/science/article/pii/S2772375524000923</a:t>
            </a:r>
            <a:endParaRPr lang="en-US" sz="1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[9] Smart Sensors and Smart Data for Precision Agriculture - </a:t>
            </a:r>
            <a:r>
              <a:rPr lang="en-US" sz="1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https://www.mdpi.com/1424-8220/24/8/2647</a:t>
            </a:r>
            <a:endParaRPr lang="en-US" sz="1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 Artificial Intelligence of Things (</a:t>
            </a:r>
            <a:r>
              <a:rPr lang="en-US" sz="16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AIoT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for Precision Agriculture – A Review - </a:t>
            </a:r>
            <a:r>
              <a:rPr lang="en-US" sz="1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https://www.sciencedirect.com/science/article/pii/S2772375525008603</a:t>
            </a:r>
            <a:endParaRPr lang="en-US" sz="1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[11] A Literature Review on IoT in Smart Agriculture - </a:t>
            </a:r>
            <a:r>
              <a:rPr lang="en-US" sz="1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https://www.researchgate.net/publication/388320488_A_LITERATURE_REVIEW_ON_IOT_IN_SMART_AGRICULTURE</a:t>
            </a:r>
            <a:endParaRPr lang="en-US" sz="1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[12] Integration of Smart Sensors and IoT in Precision Agriculture - </a:t>
            </a:r>
            <a:r>
              <a:rPr lang="en-US" sz="1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https://www.frontiersin.org/journals/plant-science/articles/10.3389/fpls.2025.1587869/full</a:t>
            </a:r>
            <a:endParaRPr lang="en-US" sz="1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[13] Machine Learning-Based Precision Agriculture with IoT Sensors – Review -</a:t>
            </a:r>
            <a:r>
              <a:rPr lang="en-US" sz="1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https://link.springer.com/article/10.1007/s44274-025-00305-8</a:t>
            </a:r>
            <a:endParaRPr lang="en-US" sz="1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ctr"/>
            <a:endParaRPr lang="en-IN" sz="1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9D879-3E34-4FDE-9448-C2C2F556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26B63E00-BB15-10CB-CE66-6DE12F1A7899}"/>
              </a:ext>
            </a:extLst>
          </p:cNvPr>
          <p:cNvSpPr txBox="1">
            <a:spLocks/>
          </p:cNvSpPr>
          <p:nvPr/>
        </p:nvSpPr>
        <p:spPr>
          <a:xfrm>
            <a:off x="2175295" y="6363658"/>
            <a:ext cx="10941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12/03/2026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86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2211</Words>
  <Application>Microsoft Office PowerPoint</Application>
  <PresentationFormat>Widescreen</PresentationFormat>
  <Paragraphs>186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Baskerville Old Face</vt:lpstr>
      <vt:lpstr>Calibri</vt:lpstr>
      <vt:lpstr>Calibri Light</vt:lpstr>
      <vt:lpstr>Sitka Banner</vt:lpstr>
      <vt:lpstr>Symbol</vt:lpstr>
      <vt:lpstr>Times New Roman</vt:lpstr>
      <vt:lpstr>Wingdings</vt:lpstr>
      <vt:lpstr>Office Theme</vt:lpstr>
      <vt:lpstr>Picture</vt:lpstr>
      <vt:lpstr>PowerPoint Presentation</vt:lpstr>
      <vt:lpstr>AGENDA</vt:lpstr>
      <vt:lpstr>INTRODUCTION</vt:lpstr>
      <vt:lpstr>LITERATURE SURVEY</vt:lpstr>
      <vt:lpstr>LITERATURE SURVEY (continued…)</vt:lpstr>
      <vt:lpstr>PowerPoint Presentation</vt:lpstr>
      <vt:lpstr>PowerPoint Presentation</vt:lpstr>
      <vt:lpstr>PROBLEM STATEMENT</vt:lpstr>
      <vt:lpstr>Objectives</vt:lpstr>
      <vt:lpstr>METHODOLOGY</vt:lpstr>
      <vt:lpstr>ARCHITECTURE</vt:lpstr>
      <vt:lpstr>OUTCOMES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Sampada K S</dc:creator>
  <cp:lastModifiedBy>Jaishnav K</cp:lastModifiedBy>
  <cp:revision>12</cp:revision>
  <dcterms:created xsi:type="dcterms:W3CDTF">2023-12-13T09:50:56Z</dcterms:created>
  <dcterms:modified xsi:type="dcterms:W3CDTF">2026-03-12T10:54:52Z</dcterms:modified>
</cp:coreProperties>
</file>